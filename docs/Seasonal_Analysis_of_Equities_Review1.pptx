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excess return vs Nifty 50 (%)</c:v>
                </c:pt>
              </c:strCache>
            </c:strRef>
          </c:tx>
          <c:spPr>
            <a:solidFill>
              <a:srgbClr val="2F5D50"/>
            </a:solidFill>
            <a:effectLst/>
          </c:spPr>
          <c:invertIfNegative val="0"/>
          <c:dLbls>
            <c:numFmt formatCode="+0.00&quot;%&quot;;-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3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D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6A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Auto — Apr</c:v>
                  </c:pt>
                  <c:pt idx="1">
                    <c:v>IT — Dec</c:v>
                  </c:pt>
                  <c:pt idx="2">
                    <c:v>Banking — Oct</c:v>
                  </c:pt>
                  <c:pt idx="3">
                    <c:v>IT — Apr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2.73</c:v>
                </c:pt>
                <c:pt idx="1">
                  <c:v>2.24</c:v>
                </c:pt>
                <c:pt idx="2">
                  <c:v>2.17</c:v>
                </c:pt>
                <c:pt idx="3">
                  <c:v>-3.76</c:v>
                </c:pt>
              </c:numCache>
            </c:numRef>
          </c:val>
        </c:ser>
        <c:dLbls>
          <c:numFmt formatCode="+0.00&quot;%&quot;;-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C23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3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-5"/>
        </c:scaling>
        <c:delete val="0"/>
        <c:axPos val="b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 name, Review 1, scope: Indian equities at sector level, seasonal engine as the research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claims the audience has heard, name the two defects, then read the boxed problem statement slowly. The last sub-gap motivates the whole surrounding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in the title narrows the scope deliberately. Then the three relevance arguments, closing on why the platform surrounds the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stages left to right. Stages 2 and 3 separate this from every free seasonality chart. Then the early result — point at the negative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is where the seasonal engine sits alongside the other factor modules. Stress modularity, that validation is its own layer, and that the pipeline already runs — that is the feasibility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'what have you actually built'. Emphasise explainability, then give the War Room chain left to right. The edible-oil finding is the memorable one. Be clear the module is explanatory, not a forecasting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credibility slide. We ran the harness, got a negative result on technicals, and report it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 — this is the contribution. S2 and S3 are the methodological core; S5 is what makes the result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reading was organised into three domains before searching. Each band names what the domain gives and what it withholds — the gap follows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table. Point out one contribution and one limitation, then move on — the detail is in the report. Full citations are on this slide, so there is no separate references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table. Point out one contribution and one limitation, then move on — the detail is in the report. Full citations are on this slide, so there is no separate references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table. Point out one contribution and one limitation, then move on — the detail is in the report. Full citations are on this slide, so there is no separate references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objective has a measurable criterion — nothing here is 'study' or 'explore'. Close on the four deliverables.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out-of-scope column matters as much as the in-scope one. On feasibility, lead with the fact that the core engine and harness already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reviews fall at the end of P1, P4 and P6, so each has a completed deliverable behind it. Each role carries its own testing, so quality is not deferred to one person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66928" y="2907792"/>
            <a:ext cx="9229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validated seasonal engine within an integrated Indian equity analysis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3611880"/>
            <a:ext cx="2377440" cy="45720"/>
          </a:xfrm>
          <a:prstGeom prst="rect">
            <a:avLst/>
          </a:prstGeom>
          <a:solidFill>
            <a:srgbClr val="A96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886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— Review 1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Analytics  ·  Applied Statistics  ·  Applied Machine Learning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studied: Indian equity market (NSE sector indices and constituents)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Problem Definition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is widely traded and poorly measured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"April is the best month."      "Buy auto stocks before Diwali."      "Sell in May."   —  all produced by averaging raw monthly returns over ten years.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5349240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99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1 — market beta contamination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02082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whole market rises in April, every sector shows a positive April average. What gets reported as sector seasonality is mostly the index moving, not the sector.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81928" y="1591056"/>
            <a:ext cx="5349240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7099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2 — no significance testing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64808" y="202082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years gives about ten observations per month. A 2% average difference is easily noise. Averages are published with no test of whether they differ from zero.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11057839" cy="713232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926080"/>
            <a:ext cx="54864" cy="713232"/>
          </a:xfrm>
          <a:prstGeom prst="rect">
            <a:avLst/>
          </a:prstGeom>
          <a:solidFill>
            <a:srgbClr val="A96A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926080"/>
            <a:ext cx="10509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definition:  existing seasonal analysis of Indian equities cannot distinguish a real, repeatable sector pattern from market-wide movement or from statistical noise — and presents its output without the context a reader would need to act on it responsibly.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76732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broken down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66928" y="4059936"/>
            <a:ext cx="1105783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Confounded measurement.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averages mix sector behaviour with market behaviour.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significance testing.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observations per cell; differences inside sampling error are reported as findings.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multiple testing.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sectors x 12 months = 120 simultaneous tests. At a 10% level, roughly 12 look significant by pure chance.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out-of-sample check.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are reported on the same data used to find them — the definition of curve fitting.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economic explanation.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with no plausible cause is far more likely to be an artefact.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surrounding context.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seasonal tailwind means little if the stock is technically broken, trailing its peers, or exposed to a live external shock.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605332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affects: retail investors and students — most exposed to seasonality claims, least equipped to test them.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and Technical Relevance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</a:t>
            </a:r>
            <a:pPr indent="0" marL="0">
              <a:buNone/>
            </a:pPr>
            <a:r>
              <a:rPr lang="en-US" sz="15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statistically validated framework for detecting and testing month-of-year return patterns in Indian sector equities, delivered inside an integrated equity analysis platform.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02152" cy="129844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745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185416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Calendar-driven patterns only — month, quarter, Budget and festival cycles. Not general price prediction.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755648"/>
            <a:ext cx="3502152" cy="129844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8745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2185416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measurement, evidence and explanation — not a trading recommendation engine.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19872" y="1755648"/>
            <a:ext cx="3502152" cy="129844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8745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02752" y="2185416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Indian equities, studied at sector-index level and then at individual stock level.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21868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technically relevant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3547872"/>
            <a:ext cx="110578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Methodological.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seasonality as a hypothesis-testing problem — benchmark-relative returns, formal significance testing, multiple-testing awareness, out-of-sample validation.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Engineering.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modular pipeline: ingestion, six-factor scoring, machine-learning consensus, geopolitical exposure and a validation harness, all behind one interface.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India-specific.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February Union Budget, the 31 March financial year end, the monsoon and the Diwali/Samvat cycle. Most published work is US-based — this addresses a genuine gap.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413248"/>
            <a:ext cx="11057839" cy="566928"/>
          </a:xfrm>
          <a:prstGeom prst="rect">
            <a:avLst/>
          </a:prstGeom>
          <a:solidFill>
            <a:srgbClr val="F1F5F3"/>
          </a:solidFill>
          <a:ln w="12700">
            <a:solidFill>
              <a:srgbClr val="A96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413248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engine is the research contribution; the surrounding platform exists because a seasonal signal read in isolation is not actionable.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— What the Project Delivers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method, from raw prices to an explained, validated pattern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093976" cy="212140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65760" cy="3657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NSE sector indices, their constituents and the Nifty 50 benchmark, over ~11 years.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1298448"/>
            <a:ext cx="2093976" cy="212140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417320"/>
            <a:ext cx="365760" cy="3657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71800" y="214884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return minus benchmark return — removes market beta from the measurement.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47488" y="1298448"/>
            <a:ext cx="2093976" cy="212140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417320"/>
            <a:ext cx="365760" cy="3657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214884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t-test on all 120 sector-month cells; only patterns clearing the bar are surfaced.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87768" y="1298448"/>
            <a:ext cx="2093976" cy="212140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417320"/>
            <a:ext cx="365760" cy="3657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driver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52360" y="214884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tagged to an India-specific cause — Budget, FY end, monsoon, festive demand.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28048" y="1298448"/>
            <a:ext cx="2093976" cy="212140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1417320"/>
            <a:ext cx="365760" cy="3657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0" y="185623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92640" y="2148840"/>
            <a:ext cx="1764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on early years, measure persistence on later years the discovery never saw.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3584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results from the initial build</a:t>
            </a:r>
            <a:endParaRPr lang="en-US" sz="15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66928" y="3895344"/>
          <a:ext cx="5394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6281928" y="3584448"/>
            <a:ext cx="5349240" cy="1234440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64808" y="37033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significant effects over 11 years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464808" y="4014216"/>
            <a:ext cx="4983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effects are reported too — IT underperforms in April, the same month naive averaging calls the market's best. Naive methods rarely surface these.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281928" y="4956048"/>
            <a:ext cx="5349240" cy="95097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64808" y="5074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partly negative result is also valid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6464808" y="53858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most popular Indian seasonality claims do not survive proper testing, that is the finding — reporting it honestly is a stated goal.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 and Modules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fifteen modules — data flows up, explanation flows back down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804672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051560" cy="804672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01368" y="1380744"/>
            <a:ext cx="9640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01368" y="1636776"/>
            <a:ext cx="964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price and index ingestion with constituent-basket fallback  ·  benchmark alignment  ·  news retrieval  ·  official customs trade statistics  ·  on-disk caching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231136"/>
            <a:ext cx="11057839" cy="804672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231136"/>
            <a:ext cx="1051560" cy="804672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31136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01368" y="2313432"/>
            <a:ext cx="9640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01368" y="2569464"/>
            <a:ext cx="964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 ·  Fundamental  ·  Volumetric  ·  Sector and peer comparison  ·  News sentiment  ·  Geopolitical exposure  ·  SEASONAL ENGINE (the research core)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11057839" cy="804672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163824"/>
            <a:ext cx="1051560" cy="804672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63824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01368" y="3246120"/>
            <a:ext cx="9640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01368" y="3502152"/>
            <a:ext cx="964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scoring  ·  three-model machine-learning consensus  ·  portfolio construction  ·  the validation harness that tests all of 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096512"/>
            <a:ext cx="11057839" cy="804672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096512"/>
            <a:ext cx="1051560" cy="804672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096512"/>
            <a:ext cx="1051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01368" y="4178808"/>
            <a:ext cx="9640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801368" y="4434840"/>
            <a:ext cx="9640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view  ·  Seasonal view  ·  War Room view  ·  per-factor explainability panels  ·  interactive charting  ·  explicit no-signal states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50840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design: every component can be developed, tested and — critically — validated on its own. Validation is a layer, not a final step.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413248"/>
            <a:ext cx="11057839" cy="566928"/>
          </a:xfrm>
          <a:prstGeom prst="rect">
            <a:avLst/>
          </a:prstGeom>
          <a:solidFill>
            <a:srgbClr val="F1F5F3"/>
          </a:solidFill>
          <a:ln w="12700">
            <a:solidFill>
              <a:srgbClr val="A96A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5413248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Review 1: all fifteen modules are already prototyped. The remaining work is consolidation — completing validation results, tightening the multiple-testing treatment, and documentation.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Modules — Reading a Stock in Context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factors, each with its reasoning exposed to the user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502152" cy="969264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990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709928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Momentum, trend, volatility, mean reversion, support/resistance — one reading.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280160"/>
            <a:ext cx="3502152" cy="969264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3990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709928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Profitability, leverage, growth and valuation, scored per category.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19872" y="1280160"/>
            <a:ext cx="3502152" cy="969264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3990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02752" y="1709928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 and price-volume confirmation — does flow agree with price?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432304"/>
            <a:ext cx="3502152" cy="969264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5117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peers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286207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side by side against the same-sector cohort; better performers surfaced when trailing.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432304"/>
            <a:ext cx="3502152" cy="969264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55117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286207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Finance-domain transformer over retrieved news; stock vs sector divergence.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19872" y="2432304"/>
            <a:ext cx="3502152" cy="969264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255117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02752" y="286207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exposure to tracked conflicts through commodity trade channels.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4930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into one score — every factor expandable to show the inputs that produced it: which indicators fired, which fundamental categories scored where, which peers rank above the stock, which news drove the sentiment, which conflict channel creates the exposure.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module — the "War Room"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66928" y="4352544"/>
            <a:ext cx="2039112" cy="566928"/>
          </a:xfrm>
          <a:prstGeom prst="rect">
            <a:avLst/>
          </a:prstGeom>
          <a:solidFill>
            <a:srgbClr val="DFE9E4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52544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06040" y="4352544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788920" y="4352544"/>
            <a:ext cx="2039112" cy="5669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4352544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bilateral relations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4352544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010912" y="4352544"/>
            <a:ext cx="2039112" cy="5669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4352544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trade exposure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050024" y="4352544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7232904" y="4352544"/>
            <a:ext cx="2039112" cy="5669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06056" y="4352544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Indian sectors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72016" y="4352544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9454896" y="4352544"/>
            <a:ext cx="2039112" cy="5669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28048" y="4352544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tickers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5047488"/>
            <a:ext cx="11057839" cy="914400"/>
          </a:xfrm>
          <a:prstGeom prst="rect">
            <a:avLst/>
          </a:prstGeom>
          <a:solidFill>
            <a:srgbClr val="F1F5F3"/>
          </a:solidFill>
          <a:ln w="12700">
            <a:solidFill>
              <a:srgbClr val="A96A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5120640"/>
            <a:ext cx="106189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official customs data — which corrects intuition rather than confirming it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6384" y="5394960"/>
            <a:ext cx="106189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intuitive reading of the Russia-Ukraine conflict is that it hits India's energy imports. India's reported customs data says otherwise: natural gas is a negligible share of imports from those two countries, while sunflower oil is overwhelmingly sourced from them. The edible-oil channel is the one that matters. Two outputs, one knowledge base: a standalone conflict report, and a deterministic per-stock exposure factor feeding the six-factor score.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the Validation Harness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that decides what to believe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5349240" cy="1691640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990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Three-model consensus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70992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gradient boosting and a rule-aware hybrid run over engineered price-derived features and are combined by soft voting. The target is deliberately relative — will this stock outperform the Nifty 50 over the next 20 sessions — because absolute direction is dominated by market drift.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81928" y="1280160"/>
            <a:ext cx="5349240" cy="1691640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3990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specified in advance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64808" y="170992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Purged, time-ordered walk-forward with an embargo between train and test. A planted-signal positive control run before any negative result is believed. Autocorrelation-corrected significance testing on every candidate signal.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1272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findings — reported honestly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3456432"/>
            <a:ext cx="110578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technical signals showed no reliable out-of-sample edge.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20+ model and preprocessing configurations, out-of-sample discrimination sat at the level of a pure-noise control — while the positive control confirmed the harness itself was sound.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3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 must be autocorrelation-corrected.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information coefficients against an overlapping multi-day target are heavily autocorrelated. Of 30 candidate signals, 20 appeared significant under naive testing; only 3 survived the corrected test.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5102352"/>
            <a:ext cx="11057839" cy="786384"/>
          </a:xfrm>
          <a:prstGeom prst="rect">
            <a:avLst/>
          </a:prstGeom>
          <a:solidFill>
            <a:srgbClr val="DFE9E4"/>
          </a:solidFill>
          <a:ln w="12700">
            <a:solidFill>
              <a:srgbClr val="A96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5102352"/>
            <a:ext cx="1061892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project's centre of gravity is the seasonal engine — a narrower, economically explainable, directly testable hypothesis. The same discipline that produced these negative findings is what will make a positive seasonal finding credible.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Engine in Detail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original contribution, specified in five stages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5096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103120"/>
                <a:gridCol w="8174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return series for each of the ten sector indices and for the Nifty 50 benchmark, over a rolling window of roughly eleven years.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Neutralise the market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every sector and month, excess return = sector return minus benchmark return. Removes market beta, so what remains is sector rotation rather than market drift.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One-sample t-test on each cell's excess returns against a null of zero. Record mean excess, standard deviation, t-statistic, p-value, sample count and the share of years the sector beat the market.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and explain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surviving patterns by t-statistic — a signal-to-noise measure — not by raw magnitude, and tag each with its India-specific driver: Budget, FY end, monsoon, earnings, Diwali and Samvat.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discovery on earlier years only, then measure on the later unseen years whether each flagged pattern kept its sign, and how its excess compares with the all-cells baseline.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97680"/>
            <a:ext cx="11057839" cy="960120"/>
          </a:xfrm>
          <a:prstGeom prst="rect">
            <a:avLst/>
          </a:prstGeom>
          <a:solidFill>
            <a:srgbClr val="F1F5F3"/>
          </a:solidFill>
          <a:ln w="12700">
            <a:solidFill>
              <a:srgbClr val="A96A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4297680"/>
            <a:ext cx="1061892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" y="4389120"/>
            <a:ext cx="106189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worth defending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4663440"/>
            <a:ext cx="106189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by t-statistic rather than average return stops a large but unreliable pattern outranking a smaller consistent one. Requiring an economic driver is a deliberate guard against multiple testing — a significant cell with no plausible cause is treated as a candidate artefact, not a finding.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Domains and Research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papers reviewed, all published 2020 onward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1057839" cy="76809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80160"/>
            <a:ext cx="914400" cy="768096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80160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64208" y="136245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and calendar anomalies in equity markets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64208" y="1618488"/>
            <a:ext cx="97776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calendar effects — but mostly on raw returns, with no correction for testing many combinations at once.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176272"/>
            <a:ext cx="11057839" cy="76809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76272"/>
            <a:ext cx="914400" cy="768096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7627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64208" y="2258568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validation, multiple testing and out-of-sample persistence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664208" y="2514600"/>
            <a:ext cx="97776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exactly the correction tools needed — but applies them to cross-sectional factors and fund selection, not to calendar patterns.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11057839" cy="76809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072384"/>
            <a:ext cx="914400" cy="768096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72384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64208" y="3154680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data-driven cross-sectional equity methods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64208" y="3410712"/>
            <a:ext cx="97776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rigorous out-of-sample practice — but aimed at general return prediction and largely uninterpretable to an end user.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041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work combines all three for the Indian market. The open gap: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4352544"/>
            <a:ext cx="1105783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Indian seasonality measured on benchmark-relative returns rather than raw returns.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significance testing of every sector-month cell, with the 120-cell multiple-testing problem stated explicitly.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persistence testing, following the standard set by the replication literature.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surviving pattern mapped to an India-specific driver — Budget, financial year end, monsoon, festive demand.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reading presented alongside the technical, peer, sentiment and geopolitical context needed to interpret it.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method delivered as a usable, explainable interface — not as a research paper.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989320"/>
            <a:ext cx="3108960" cy="365760"/>
          </a:xfrm>
          <a:prstGeom prst="rect">
            <a:avLst/>
          </a:prstGeom>
          <a:solidFill>
            <a:srgbClr val="DFE9E4"/>
          </a:solidFill>
          <a:ln w="12700">
            <a:solidFill>
              <a:srgbClr val="A96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989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the project.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D1: Seasonality and Calendar Anomalies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1-5  ·  full citations shown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5096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617720"/>
                <a:gridCol w="39227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 /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Elangovan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Asia-Pacific Financial Markets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monthly seasonality on BSE 500 and NIFTY 500 (2011-21) using GARCH models. Finds a significant negative March effect linked to the Union Budget — Indian seasonality follows the financial year, not the calendar year.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two broad indices, so no sector view. Raw returns, so market moves are not separated out. Adjusted R-squared only 0.21.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Bhatia &amp; Chaudhary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Professional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calendar-year and financial-year seasonality across Indian sector indices; sector effects differ from index-level effects, supporting a sector-wise treatment.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sector returns, no benchmark adjustment. No correction for testing many sector-month combinations. No out-of-sample check.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Valadkhani &amp; O'Mahony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Int. Review of Financial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month-of-year effects separately for eleven S&amp;P 500 sector indices and shows the calendar pattern is sector-dependent. Maps each anomaly to tradable sector ETFs.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US-only, so the drivers (tax-loss selling, US fiscal calendar) do not transfer to India. Absolute rather than excess returns.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Shehadeh &amp; Zheng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Int. Review of Economics &amp;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GJR-GARCH(1,1) across seven emerging Middle East markets, jointly testing day-of-week, month-of-year, turn-of-month and half-month effects. Anomalies survive after modelling volatility clustering.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 found but not economically validated — no trading costs, no out-of-sample test. Coverage excludes South Asia.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Keloharju, Linnainmaa &amp; Nyberg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of Financial Economics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outperformance in one month is offset by seasonal reversals in others, summing to roughly zero over the year. Concludes seasonality is temporary mispricing, not a risk premium.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and US-centric; no detection rule for a specific market. Implies any single-month edge must be validated before being treated as persistent.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D2: Statistical Validation and Multiple Testing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6-10  ·  full citations shown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5096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617720"/>
                <a:gridCol w="39227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 /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Harvey &amp; Liu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Journal of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Double-bootstrap method to set t-statistic hurdles controlling the false discovery rate when many candidate signals are tested, balancing false against missed discoveries.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heavy; demonstrated on factor and fund selection, not on calendar seasonality where each month has very few annual observations.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Hou, Xue &amp; Zhang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Financial Studies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Replicates 452 published anomalies under one protocol. About 65% fail a simple t &gt; 1.96 bar and 82% fail a multiple-testing bar of 2.78 — most published edges are fragile.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cross-sectional factors, not seasonal patterns. US value-weighted data, so conclusions are not automatic for Indian sector indices.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Journal of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experiments showing p-hacking alone cannot generate the observed distribution of anomaly t-statistics — so some documented effects are genuine.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statistical argument rather than a usable test procedure. Does not address short-sample, low-observation settings such as monthly seasonality.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Jensen, Kelly &amp; Pedersen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Journal of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hierarchical replication over 153 factors and 93 countries. Most factors do replicate when tested jointly; out-of-country evidence is the strongest reliability check.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large panel of related signals for the hierarchical model to work; not applicable to a small set of sector-month cells in one market.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Zakamulin (2026)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American J. of Economics &amp;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Examines directly whether documented calendar effects survive corrections for data mining; most weaken sharply once the full search space of calendar rules is accounted for.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 a negative result — flags the problem but gives limited guidance on the validation design a live analytical tool should use.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D3: Machine Learning and Data-Driven Methods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11-15  ·  full citations shown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5096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617720"/>
                <a:gridCol w="39227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(Year) /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Gu, Kelly &amp; Xiu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Financial Studies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comparison of linear, tree and neural models for stock return prediction. Tree ensembles and neural nets win, with gains from non-linear interactions.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Out-of-sample R-squared stays under 1% per month — predictability is weak. Needs very large panels and long histories to train reliably.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Leippold, Wang &amp; Zhou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of Financial Economics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 the ML asset pricing exercise on an emerging, retail-heavy market. Liquidity and turnover features dominate, unlike the US where valuation features dominate.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China-specific and shaped by trading restrictions. Predictive edge shrinks substantially once transaction costs are applied.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Avramov, Cheng &amp; Metzker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Science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ML gains fall sharply once micro-caps, illiquid and distressed stocks are excluded; economic restrictions must be imposed before believing model results.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caution on evaluation rather than an alternative model. Restrictions are calibrated to US market structure.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Chen, Pelger &amp; Zhu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Science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Feed-forward, LSTM and adversarial networks under a no-arbitrage condition to estimate a stochastic discount factor; highest reported out-of-sample Sharpe among comparable methods.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complexity and low interpretability — a problem when the user must be told why a recommendation was made. Heavy data and compute needs.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Page, McClelland &amp; Auret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Cogent Economics &amp; 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XGBoost and LightGBM used to time rotation between equity styles in an emerging market; model-driven rotation beats momentum-based rotation.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style rotation, not calendar-driven sector rotation. Single emerging market, limited history, no multiple-testing correction.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Expected Outcome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objectives, each with a measurable completion criterion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5096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4846320"/>
                <a:gridCol w="55504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will be measured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data layer — 10 NSE sector indices, constituents and the Nifty 50, over a rolling ~11-year window.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return series retrieved, cleaned and cached, with documented missing-data and index-fallback handling.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seasonal engine — excess returns, significance testing across all 120 cells, t-statistic edge ranking.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complete test result (mean, t, p, count, win rate) for every cell, plus a comparison against raw returns showing market beta removed.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every statistically supported pattern to a documented India-specific economic driver.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event calendar covering Budget, FY end, monsoon, earnings and the Diwali/Samvat cycle, with every pattern tagged.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detected patterns out of sample, under a methodology specified in advance.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hit rate against an all-cells baseline; purged walk-forward, positive control and corrected significance testing in place.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surrounding six-factor engine so a seasonal reading can be interpreted in context.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independent factor scores per stock, each with an expandable explanation, plus side-by-side ranking against the sector cohort.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Machine-learning consensus targeting relative performance, evaluated honestly against a baseline.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models combined by soft voting; out-of-sample performance reported against the majority-class baseline, including negative results.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through a clean, explainable interface that reports negative results as clearly as positive ones.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API and interface with Analysis, Seasonal and War Room views, factor explainability, explicit 'no reliable pattern' states.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5902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4901184"/>
            <a:ext cx="2633472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5330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backend, React frontend — Analysis, Seasonal and War Room views.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4136" y="4901184"/>
            <a:ext cx="2633472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57016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pattern list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557016" y="5330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excess return, t-statistic, p-value, win rate and economic driver.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81344" y="4901184"/>
            <a:ext cx="2633472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64224" y="5330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patterns persisted on unseen data — including those that failed.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988552" y="4901184"/>
            <a:ext cx="2633472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71432" y="502005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methodology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171432" y="53309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and method, transferable to other markets, factors or asset classes.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Feasibility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fixed at Review 1 so the deliverable stays achievable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5096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229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listed equities — 10 NSE sector indices and their constituents.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Non-Indian markets, commodities, currencies, fixed income, derivatives.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and quarterly seasonality, plus the Indian event calendar.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Intraday, day-of-week and turn-of-month effects.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10-11 years of history (approximately 2015-2026).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Multi-decade history — affected by structural breaks in the Indian market.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returns measured against the Nifty 50 benchmark.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Multi-factor risk adjustment (Fama-French style attribution).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explanatory factors plus an ML consensus on relative performance.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High-frequency, order-book or alternative-data modelling.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analysis as an explanatory layer on official trade statistics.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forecasting or automated escalation detection from live feeds.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testing, edge ranking and out-of-sample persistence testing.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order execution, brokerage integration, portfolio accounting.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and analytical output, clearly labelled as such.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investment advice or any regulated advisory function.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11480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4425696"/>
            <a:ext cx="2633472" cy="131673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45445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4855464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throughout, proven in an initial build: public market-data and customs APIs, pandas, SciPy, scikit-learn, Flask, React. No paid data, no GPU.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4136" y="4425696"/>
            <a:ext cx="2633472" cy="131673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57016" y="45445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557016" y="4855464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years of daily history for 10 sectors plus benchmark — small and freely available. Constraint stated openly: ~11 observations per cell.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81344" y="4425696"/>
            <a:ext cx="2633472" cy="131673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45445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64224" y="4855464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120 cells and every t-test run in under a minute on a laptop; the ML layer trains in minutes on CPU. Heavy steps are cached.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988552" y="4425696"/>
            <a:ext cx="2633472" cy="1316736"/>
          </a:xfrm>
          <a:prstGeom prst="rect">
            <a:avLst/>
          </a:prstGeom>
          <a:solidFill>
            <a:srgbClr val="F1F5F3"/>
          </a:solidFill>
          <a:ln w="6350">
            <a:solidFill>
              <a:srgbClr val="B9C7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71432" y="45445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171432" y="4855464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 components — seasonal engine and validation harness — are already prototyped. Remaining work is consolidation.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5833872"/>
            <a:ext cx="11057839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6A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833872"/>
            <a:ext cx="106189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~11 observations per cell and 120 simultaneous tests. Mitigated by reporting p-values, sample counts and win rates with every result, requiring an economic driver, and validating out of sample.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Work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6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across a 14-week semester, aligned to the three reviews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5096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685800"/>
                <a:gridCol w="4709160"/>
                <a:gridCol w="3108960"/>
                <a:gridCol w="18928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9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definition, literature survey across the three domains, system design, scope finalisation.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1 report and presentation.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layer — sector, constituent and benchmark retrieval, cleaning, caching, monthly returns.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data layer with cached series.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engine — excess returns, t-tests on all 120 cells, edge ranking, event-calendar mapping.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analysis engine.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— discovery/holdout persistence, baseline comparison, corrected significance testing.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report. Review 2.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B,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Surrounding modules and interface — six-factor engine, peer comparison, sentiment, War Room, seasonal panels.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working application.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A,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documentation, results consolidation, final report and demonstration.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report. Review 3.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t">
                    <a:lnL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913632"/>
            <a:ext cx="11057839" cy="475488"/>
          </a:xfrm>
          <a:prstGeom prst="rect">
            <a:avLst/>
          </a:prstGeom>
          <a:solidFill>
            <a:srgbClr val="F1F5F3"/>
          </a:solidFill>
          <a:ln w="12700">
            <a:solidFill>
              <a:srgbClr val="B9C7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3913632"/>
            <a:ext cx="106189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Milestones:   M1 scope approved (wk 2)   ·   M2 data layer automated (wk 4)   ·   M3 all 120 cells tested (wk 7)   ·   M4 persistence measured (wk 9)   ·   M5 application demonstrable (wk 12)   ·   M6 final report (wk 14)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452628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of responsibilities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4828032"/>
            <a:ext cx="1143000" cy="292608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8280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47088" y="4828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integration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78808" y="4828032"/>
            <a:ext cx="7445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integration, cleaning, caching, fallback handling, return construction, news and trade-statistics ingestion, data quality checks.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5157216"/>
            <a:ext cx="1143000" cy="292608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515721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47088" y="5157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modelling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78808" y="5157216"/>
            <a:ext cx="7445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Excess-return methodology, significance testing, edge ranking, event calendar, out-of-sample validation design, ML consensus, interpretation.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" y="5486400"/>
            <a:ext cx="1143000" cy="292608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5486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847088" y="5486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validation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78808" y="5486400"/>
            <a:ext cx="7445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API, React interface, seasonal heatmap and edge panels, factor explainability, peer and War Room views, integration testing.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" y="5815584"/>
            <a:ext cx="1143000" cy="292608"/>
          </a:xfrm>
          <a:prstGeom prst="rect">
            <a:avLst/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58155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47088" y="5815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reviews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78808" y="5815584"/>
            <a:ext cx="7445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report writing, review presentations, version control, final consolidation.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" y="619963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map to named team members in the project register. Each role owns its deliverable end to end, including its own testing and documentation.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64556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 of Equities  |  Review 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71036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Analysis of Equities - Review 1</dc:title>
  <dc:subject>PptxGenJS Presentation</dc:subject>
  <dc:creator>Project Team</dc:creator>
  <cp:lastModifiedBy>Project Team</cp:lastModifiedBy>
  <cp:revision>1</cp:revision>
  <dcterms:created xsi:type="dcterms:W3CDTF">2026-08-18T17:37:49Z</dcterms:created>
  <dcterms:modified xsi:type="dcterms:W3CDTF">2026-08-18T17:37:49Z</dcterms:modified>
</cp:coreProperties>
</file>