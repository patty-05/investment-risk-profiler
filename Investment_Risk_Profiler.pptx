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Factor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ED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CB-4974-97C9-4BD0FF75D51E}"/>
              </c:ext>
            </c:extLst>
          </c:dPt>
          <c:dPt>
            <c:idx val="1"/>
            <c:bubble3D val="0"/>
            <c:spPr>
              <a:solidFill>
                <a:srgbClr val="4F8CFF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CB-4974-97C9-4BD0FF75D51E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CB-4974-97C9-4BD0FF75D51E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CB-4974-97C9-4BD0FF75D51E}"/>
              </c:ext>
            </c:extLst>
          </c:dPt>
          <c:dPt>
            <c:idx val="4"/>
            <c:bubble3D val="0"/>
            <c:spPr>
              <a:solidFill>
                <a:srgbClr val="7C93B5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16CB-4974-97C9-4BD0FF75D51E}"/>
              </c:ext>
            </c:extLst>
          </c:dPt>
          <c:dPt>
            <c:idx val="5"/>
            <c:bubble3D val="0"/>
            <c:spPr>
              <a:solidFill>
                <a:srgbClr val="EF4444"/>
              </a:solidFill>
              <a:ln w="25400" cap="flat">
                <a:solidFill>
                  <a:srgbClr val="F5F7FB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16CB-4974-97C9-4BD0FF75D51E}"/>
              </c:ext>
            </c:extLst>
          </c:dPt>
          <c:cat>
            <c:strRef>
              <c:f>Sheet1!$A$2:$A$7</c:f>
              <c:strCache>
                <c:ptCount val="6"/>
                <c:pt idx="0">
                  <c:v>Fundamental</c:v>
                </c:pt>
                <c:pt idx="1">
                  <c:v>Technical</c:v>
                </c:pt>
                <c:pt idx="2">
                  <c:v>Sentiment</c:v>
                </c:pt>
                <c:pt idx="3">
                  <c:v>Volumetric</c:v>
                </c:pt>
                <c:pt idx="4">
                  <c:v>Sector</c:v>
                </c:pt>
                <c:pt idx="5">
                  <c:v>Geopolitical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26.4</c:v>
                </c:pt>
                <c:pt idx="1">
                  <c:v>22</c:v>
                </c:pt>
                <c:pt idx="2">
                  <c:v>13.2</c:v>
                </c:pt>
                <c:pt idx="3">
                  <c:v>13.2</c:v>
                </c:pt>
                <c:pt idx="4">
                  <c:v>13.2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CB-4974-97C9-4BD0FF75D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7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Investment Risk Profiler: a full-stack platform for assessing equity risk across six analytical factors, with machine-learning signals, an explainable score, a portfolio allocation personalised to the investor, and an India-specific geopolitical 'War Room'.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intent: consolidate fragmented signals into one explainable score, personalise the output to the investor, and factor in geopolitical events that classic tools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runs the six analysers; stage 3 cross-checks with two models and flags disagreement; stage 4 personalises allocation using the investor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shown are the applied weights when a stock has geopolitical exposure; the geopolitical slice only participates when the stock is actually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 Room retrieves grounded facts (conflict, bilateral relations, trade exposure, sector-ticker maps) and has the LLM reason over them. Separately, every analysed stock gets a deterministic geopolitical exposure sub-score.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under Shipped is running end to end. Next steps focus on widening the geopolitical knowledge base and closing the loop between a conflict report and the affected stocks.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600200"/>
            <a:ext cx="3108960" cy="3108960"/>
          </a:xfrm>
          <a:prstGeom prst="ellipse">
            <a:avLst/>
          </a:prstGeom>
          <a:solidFill>
            <a:srgbClr val="141E33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2148840"/>
            <a:ext cx="2011680" cy="201168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743200"/>
            <a:ext cx="822960" cy="82296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INDOQUANT: SECTORAL ANALYSIS FOR RETAIL INVESTMENTS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risk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take it.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multi-factor equity analysis platform that fuses seasonal behavior across years, technical, fundamental, sentiment and geopolitical signals into one personalised, explainable risk view — built for the Indian market.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166360"/>
            <a:ext cx="883310" cy="384048"/>
          </a:xfrm>
          <a:prstGeom prst="roundRect">
            <a:avLst>
              <a:gd name="adj" fmla="val 47619"/>
            </a:avLst>
          </a:prstGeom>
          <a:solidFill>
            <a:srgbClr val="141E33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16636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5142" y="5166360"/>
            <a:ext cx="2048256" cy="384048"/>
          </a:xfrm>
          <a:prstGeom prst="roundRect">
            <a:avLst>
              <a:gd name="adj" fmla="val 47619"/>
            </a:avLst>
          </a:prstGeom>
          <a:solidFill>
            <a:srgbClr val="141E33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5142" y="516636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37990" y="5166360"/>
            <a:ext cx="1600200" cy="384048"/>
          </a:xfrm>
          <a:prstGeom prst="roundRect">
            <a:avLst>
              <a:gd name="adj" fmla="val 47619"/>
            </a:avLst>
          </a:prstGeom>
          <a:solidFill>
            <a:srgbClr val="141E33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7990" y="5166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2782" y="5166360"/>
            <a:ext cx="1779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897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·  FinTech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Intends To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00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judge a stock on one dimension at a time — a chart, a headline, a P/E ratio. The signals that actually move Indian equities are scattered across price action, balance sheets, news tone and world events.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almost nothing tells them why a score was given — or what a war on the other side of the world does to the stock they hold.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452628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5262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ticker in — a complete, explained risk picture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66360" y="1399032"/>
            <a:ext cx="475488" cy="475488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33872" y="13258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 from every angle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33872" y="165506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factors — technical, fundamental, sentiment, volumetric, sector and geopolitical — combined into one 0–100 score.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66360" y="2514600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33872" y="24414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number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33872" y="277063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opens up to show the drivers behind it, so the score is auditable rather than a black box.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363016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630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33872" y="35570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the outcome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33872" y="38862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 adapts to the investor's own risk appetite and time horizon.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66360" y="4745736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33872" y="46725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 world events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33872" y="50017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long-running conflicts and traces their impact into Indian sectors and stocks.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flows through four stages and returns a complete risk picture.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938528"/>
            <a:ext cx="548640" cy="54864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2980944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plus the investor's risk appetite and horizon.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18688" y="25146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29584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85616" y="1938528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85616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85616" y="2980944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factors computed in parallel from live market, filing and news data.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53912" y="25146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64808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193852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980944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/>
              <a:t>AI models which cross validate the output.</a:t>
            </a:r>
          </a:p>
        </p:txBody>
      </p:sp>
      <p:sp>
        <p:nvSpPr>
          <p:cNvPr id="21" name="Text 19"/>
          <p:cNvSpPr/>
          <p:nvPr/>
        </p:nvSpPr>
        <p:spPr>
          <a:xfrm>
            <a:off x="9089136" y="25146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400032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56064" y="1938528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965606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56064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56064" y="2980944"/>
            <a:ext cx="2093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score, allocation tuned to the profile, and recommendations.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4251960"/>
            <a:ext cx="109910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4956048"/>
            <a:ext cx="118872" cy="11887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33856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33856" y="5102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fundamentals and volume via yfinance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11880" y="4956048"/>
            <a:ext cx="118872" cy="11887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3831336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NLP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31336" y="5102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RSS/scraping feed scored by FinBERT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9360" y="4956048"/>
            <a:ext cx="118872" cy="11887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28816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28816" y="5102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conflict, trade and sector–ticker maps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06840" y="4956048"/>
            <a:ext cx="118872" cy="11887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39" name="Text 37"/>
          <p:cNvSpPr/>
          <p:nvPr/>
        </p:nvSpPr>
        <p:spPr>
          <a:xfrm>
            <a:off x="9226296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26296" y="5102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grounded on retrieved facts (RAG)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Six-Factor Scoring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scored 0–100, then weighted into a single risk score. Ratio calibrated according to investment horizon and risk appetite.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41148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96596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965960" y="3584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83480" y="1746504"/>
            <a:ext cx="155448" cy="155448"/>
          </a:xfrm>
          <a:prstGeom prst="ellipse">
            <a:avLst/>
          </a:prstGeom>
          <a:solidFill>
            <a:srgbClr val="2F6BED"/>
          </a:solidFill>
          <a:ln/>
        </p:spPr>
      </p:sp>
      <p:sp>
        <p:nvSpPr>
          <p:cNvPr id="8" name="Text 5"/>
          <p:cNvSpPr/>
          <p:nvPr/>
        </p:nvSpPr>
        <p:spPr>
          <a:xfrm>
            <a:off x="5285232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85232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Liquidity, leverage, profitability, valuation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83480" y="2404872"/>
            <a:ext cx="155448" cy="155448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2" name="Text 9"/>
          <p:cNvSpPr/>
          <p:nvPr/>
        </p:nvSpPr>
        <p:spPr>
          <a:xfrm>
            <a:off x="5285232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89520" y="2286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85232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trend and momentum structure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83480" y="3063240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5285232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89520" y="2944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85232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live news — stock vs. sector mood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983480" y="372160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285232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89520" y="36027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85232" y="3877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OBV, volume patterns and price–volume behaviour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983480" y="4379976"/>
            <a:ext cx="155448" cy="155448"/>
          </a:xfrm>
          <a:prstGeom prst="ellipse">
            <a:avLst/>
          </a:prstGeom>
          <a:solidFill>
            <a:srgbClr val="7C93B5"/>
          </a:solidFill>
          <a:ln/>
        </p:spPr>
      </p:sp>
      <p:sp>
        <p:nvSpPr>
          <p:cNvPr id="24" name="Text 21"/>
          <p:cNvSpPr/>
          <p:nvPr/>
        </p:nvSpPr>
        <p:spPr>
          <a:xfrm>
            <a:off x="5285232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589520" y="42611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285232" y="4535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against market and sector peers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983480" y="5038344"/>
            <a:ext cx="155448" cy="1554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5285232" y="4919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89520" y="4919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285232" y="5193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tracked conflicts (India-specific)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796528" y="1554480"/>
            <a:ext cx="2834640" cy="3977640"/>
          </a:xfrm>
          <a:prstGeom prst="roundRect">
            <a:avLst>
              <a:gd name="adj" fmla="val 2581"/>
            </a:avLst>
          </a:prstGeom>
          <a:solidFill>
            <a:srgbClr val="141E33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070848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070848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this score?”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070848" y="25786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opens to reveal the drivers behind its number — the exact ratios, signals and events that moved it.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070848" y="374904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9308592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Profitability: 25/25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070848" y="4133088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5"/>
          <p:cNvSpPr/>
          <p:nvPr/>
        </p:nvSpPr>
        <p:spPr>
          <a:xfrm>
            <a:off x="9308592" y="4041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Leverage: 0/20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9070848" y="4517136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7"/>
          <p:cNvSpPr/>
          <p:nvPr/>
        </p:nvSpPr>
        <p:spPr>
          <a:xfrm>
            <a:off x="9308592" y="4425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RSI: Overbought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070848" y="4901184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2" name="Text 39"/>
          <p:cNvSpPr/>
          <p:nvPr/>
        </p:nvSpPr>
        <p:spPr>
          <a:xfrm>
            <a:off x="9308592" y="48097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Strong Uptrend</a:t>
            </a:r>
            <a:endParaRPr lang="en-US" sz="1150" dirty="0"/>
          </a:p>
        </p:txBody>
      </p:sp>
      <p:sp>
        <p:nvSpPr>
          <p:cNvPr id="43" name="Rounded Rectangle 42"/>
          <p:cNvSpPr/>
          <p:nvPr/>
        </p:nvSpPr>
        <p:spPr>
          <a:xfrm>
            <a:off x="502920" y="5806440"/>
            <a:ext cx="11183112" cy="841248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" y="6053328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5961888"/>
            <a:ext cx="2880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>
                <a:solidFill>
                  <a:srgbClr val="2F6BED"/>
                </a:solidFill>
                <a:latin typeface="Calibri"/>
              </a:rPr>
              <a:t>RELEVANCE TO ROBOTICS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62544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i="1">
                <a:solidFill>
                  <a:srgbClr val="475569"/>
                </a:solidFill>
                <a:latin typeface="Calibri"/>
              </a:rPr>
              <a:t>The same AI patterns behind autonomous systems</a:t>
            </a:r>
          </a:p>
        </p:txBody>
      </p:sp>
      <p:sp>
        <p:nvSpPr>
          <p:cNvPr id="47" name="Oval 46"/>
          <p:cNvSpPr/>
          <p:nvPr/>
        </p:nvSpPr>
        <p:spPr>
          <a:xfrm>
            <a:off x="4526280" y="6035040"/>
            <a:ext cx="82296" cy="822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5989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Sensor fusion  </a:t>
            </a:r>
            <a:r>
              <a:rPr sz="950">
                <a:solidFill>
                  <a:srgbClr val="475569"/>
                </a:solidFill>
                <a:latin typeface="Calibri"/>
              </a:rPr>
              <a:t>→ six-factor fusion engine</a:t>
            </a:r>
          </a:p>
        </p:txBody>
      </p:sp>
      <p:sp>
        <p:nvSpPr>
          <p:cNvPr id="49" name="Oval 48"/>
          <p:cNvSpPr/>
          <p:nvPr/>
        </p:nvSpPr>
        <p:spPr>
          <a:xfrm>
            <a:off x="8138160" y="6035040"/>
            <a:ext cx="82296" cy="822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Sense–plan–act loop  </a:t>
            </a:r>
            <a:r>
              <a:rPr sz="950">
                <a:solidFill>
                  <a:srgbClr val="475569"/>
                </a:solidFill>
                <a:latin typeface="Calibri"/>
              </a:rPr>
              <a:t>→ fetch → analyse → decide</a:t>
            </a:r>
          </a:p>
        </p:txBody>
      </p:sp>
      <p:sp>
        <p:nvSpPr>
          <p:cNvPr id="51" name="Oval 50"/>
          <p:cNvSpPr/>
          <p:nvPr/>
        </p:nvSpPr>
        <p:spPr>
          <a:xfrm>
            <a:off x="4526280" y="6382512"/>
            <a:ext cx="82296" cy="822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633679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Redundant estimators  </a:t>
            </a:r>
            <a:r>
              <a:rPr sz="950">
                <a:solidFill>
                  <a:srgbClr val="475569"/>
                </a:solidFill>
                <a:latin typeface="Calibri"/>
              </a:rPr>
              <a:t>→ dual-model RF/XGBoost consensus</a:t>
            </a:r>
          </a:p>
        </p:txBody>
      </p:sp>
      <p:sp>
        <p:nvSpPr>
          <p:cNvPr id="53" name="Oval 52"/>
          <p:cNvSpPr/>
          <p:nvPr/>
        </p:nvSpPr>
        <p:spPr>
          <a:xfrm>
            <a:off x="8138160" y="6382512"/>
            <a:ext cx="82296" cy="822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633679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Grounded LLM planning  </a:t>
            </a:r>
            <a:r>
              <a:rPr sz="950">
                <a:solidFill>
                  <a:srgbClr val="475569"/>
                </a:solidFill>
                <a:latin typeface="Calibri"/>
              </a:rPr>
              <a:t>→ War Room RAG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— Geopolitics as a Risk Factor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conflicts are effectively permanent. This traces what they do to Indian stocks.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tracked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17190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30168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profiles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7376" y="17190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37376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themes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15984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4584" y="17190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NSE tickers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035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CONFLICT REACHES A PORTFOLIO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401568"/>
            <a:ext cx="2048256" cy="566928"/>
          </a:xfrm>
          <a:prstGeom prst="roundRect">
            <a:avLst>
              <a:gd name="adj" fmla="val 16129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42616" y="340156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98648" y="3401568"/>
            <a:ext cx="204825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bilateral 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46904" y="340156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02936" y="3401568"/>
            <a:ext cx="204825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exposure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51192" y="340156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507224" y="3401568"/>
            <a:ext cx="204825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sectors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55480" y="340156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811512" y="3401568"/>
            <a:ext cx="2048256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151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tickers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4224528"/>
            <a:ext cx="109910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899B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F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RUSSIA–UKRAINE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4400" y="4791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50474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crude widens refining margins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11880" y="4791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8620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86200" y="50474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strain accelerates indigenisation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4791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50474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fuel is the largest single cost line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06840" y="4791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8116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81160" y="50474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and potash input costs spike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a curated knowledge base, then reasoned over by an LLM — India-specific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· Where It Stands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41E33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" y="19019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light + dark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01568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41E3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19019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REST API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analyser services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Cached, fault-isolated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8776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41E33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64808" y="19019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(news sentiment)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Calibrated RF+ several other ML models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RAG-grounded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15984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41E33"/>
          </a:solidFill>
          <a:ln/>
        </p:spPr>
      </p:sp>
      <p:sp>
        <p:nvSpPr>
          <p:cNvPr id="13" name="Text 11"/>
          <p:cNvSpPr/>
          <p:nvPr/>
        </p:nvSpPr>
        <p:spPr>
          <a:xfrm>
            <a:off x="9272016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272016" y="19019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market data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RSS + scraping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geopolitics KB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Six-factor scoring with per-factor explainability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signal with disagreement detection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sentiment: stock vs. sector divergence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 portfolio allocation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+ per-stock geopolitical exposure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384048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geopolitical knowledge base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from a conflict to affected tickers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escalation from live event feeds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geopolitical signals against history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916</Words>
  <Application>Microsoft Office PowerPoint</Application>
  <PresentationFormat>Widescreen</PresentationFormat>
  <Paragraphs>155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Risk Profiler</dc:title>
  <dc:subject>PptxGenJS Presentation</dc:subject>
  <dc:creator>Investment Risk Profiler</dc:creator>
  <cp:lastModifiedBy>Ananthu T E</cp:lastModifiedBy>
  <cp:revision>2</cp:revision>
  <dcterms:created xsi:type="dcterms:W3CDTF">2026-07-24T03:57:26Z</dcterms:created>
  <dcterms:modified xsi:type="dcterms:W3CDTF">2026-07-24T04:09:36Z</dcterms:modified>
</cp:coreProperties>
</file>